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nva Sans Bold" charset="1" panose="020B0803030501040103"/>
      <p:regular r:id="rId19"/>
    </p:embeddedFont>
    <p:embeddedFont>
      <p:font typeface="Canva Sans Bold Italics" charset="1" panose="020B0803030501040103"/>
      <p:regular r:id="rId20"/>
    </p:embeddedFont>
    <p:embeddedFont>
      <p:font typeface="Open Sans Bold" charset="1" panose="020B0806030504020204"/>
      <p:regular r:id="rId21"/>
    </p:embeddedFont>
    <p:embeddedFont>
      <p:font typeface="Open Sans Bold Italics" charset="1" panose="020B0806030504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9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30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31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32.jpe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33.jpe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34.jpe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35.jpe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1.png" Type="http://schemas.openxmlformats.org/officeDocument/2006/relationships/image"/><Relationship Id="rId20" Target="../media/image21.png" Type="http://schemas.openxmlformats.org/officeDocument/2006/relationships/image"/><Relationship Id="rId21" Target="../media/image22.svg" Type="http://schemas.openxmlformats.org/officeDocument/2006/relationships/image"/><Relationship Id="rId22" Target="../media/image23.png" Type="http://schemas.openxmlformats.org/officeDocument/2006/relationships/image"/><Relationship Id="rId23" Target="../media/image24.svg" Type="http://schemas.openxmlformats.org/officeDocument/2006/relationships/image"/><Relationship Id="rId24" Target="../media/image25.png" Type="http://schemas.openxmlformats.org/officeDocument/2006/relationships/image"/><Relationship Id="rId25" Target="../media/image26.svg" Type="http://schemas.openxmlformats.org/officeDocument/2006/relationships/image"/><Relationship Id="rId26" Target="../media/image27.png" Type="http://schemas.openxmlformats.org/officeDocument/2006/relationships/image"/><Relationship Id="rId27" Target="../media/image28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29398" y="861489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30709" y="9258300"/>
            <a:ext cx="3059829" cy="751049"/>
          </a:xfrm>
          <a:custGeom>
            <a:avLst/>
            <a:gdLst/>
            <a:ahLst/>
            <a:cxnLst/>
            <a:rect r="r" b="b" t="t" l="l"/>
            <a:pathLst>
              <a:path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36705" y="6409875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15205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686214" y="-2578193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138935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409323" y="-2700100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4747568">
            <a:off x="-2972342" y="3665317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4831481" y="-1626507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7259300" y="2262342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2570549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-5282649">
            <a:off x="16440369" y="6970869"/>
            <a:ext cx="3382987" cy="1154444"/>
          </a:xfrm>
          <a:custGeom>
            <a:avLst/>
            <a:gdLst/>
            <a:ahLst/>
            <a:cxnLst/>
            <a:rect r="r" b="b" t="t" l="l"/>
            <a:pathLst>
              <a:path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6978638" y="-642644"/>
            <a:ext cx="3104522" cy="3342688"/>
          </a:xfrm>
          <a:custGeom>
            <a:avLst/>
            <a:gdLst/>
            <a:ahLst/>
            <a:cxnLst/>
            <a:rect r="r" b="b" t="t" l="l"/>
            <a:pathLst>
              <a:path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3688802" y="3063323"/>
            <a:ext cx="10910396" cy="220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60"/>
              </a:lnSpc>
            </a:pPr>
            <a:r>
              <a:rPr lang="en-US" b="true" sz="9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Third Year Project Presentation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39403" y="7406691"/>
            <a:ext cx="8459795" cy="58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81"/>
              </a:lnSpc>
            </a:pPr>
            <a:r>
              <a:rPr lang="en-US" b="true" sz="4381" spc="-8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-Xiao Fu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737926" y="2576219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591359" y="5857425"/>
            <a:ext cx="13105283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 WebGL educational website with Progressive Disclosure and AI Hint support for beginners.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4950" y="2064697"/>
            <a:ext cx="7848753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WebGL Matters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53489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003948" y="-1890601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5282649">
            <a:off x="16004285" y="265374"/>
            <a:ext cx="4017207" cy="1370872"/>
          </a:xfrm>
          <a:custGeom>
            <a:avLst/>
            <a:gdLst/>
            <a:ahLst/>
            <a:cxnLst/>
            <a:rect r="r" b="b" t="t" l="l"/>
            <a:pathLst>
              <a:path h="1370872" w="4017207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101604" y="949329"/>
            <a:ext cx="6936148" cy="6850516"/>
          </a:xfrm>
          <a:custGeom>
            <a:avLst/>
            <a:gdLst/>
            <a:ahLst/>
            <a:cxnLst/>
            <a:rect r="r" b="b" t="t" l="l"/>
            <a:pathLst>
              <a:path h="6850516" w="6936148">
                <a:moveTo>
                  <a:pt x="0" y="0"/>
                </a:moveTo>
                <a:lnTo>
                  <a:pt x="6936147" y="0"/>
                </a:lnTo>
                <a:lnTo>
                  <a:pt x="6936147" y="6850516"/>
                </a:lnTo>
                <a:lnTo>
                  <a:pt x="0" y="685051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50162" y="4179882"/>
            <a:ext cx="7707571" cy="50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499" spc="14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WebGL is a low-level graphics application programming interface (API) for the browser based on Open Graphics Library for Embedded Systems (OpenGL ES) 2.0, which allows developers to directly render interactive three-dimentional (3D) graphics in web pages without any plugins. </a:t>
            </a:r>
          </a:p>
          <a:p>
            <a:pPr algn="l" marL="0" indent="0" lvl="0">
              <a:lnSpc>
                <a:spcPts val="337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74"/>
              </a:lnSpc>
              <a:spcBef>
                <a:spcPct val="0"/>
              </a:spcBef>
            </a:pPr>
            <a:r>
              <a:rPr lang="en-US" b="true" sz="2499" spc="149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powers many modern applications, such as online games, simulations, data visualizations, and virtual reality platforms.</a:t>
            </a:r>
          </a:p>
          <a:p>
            <a:pPr algn="l" marL="0" indent="0" lvl="0">
              <a:lnSpc>
                <a:spcPts val="3374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016745" y="7752220"/>
            <a:ext cx="7105865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Example Of 3D Model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Source:https://threejs.org/examples/#webgl_animation_skinning_additive_blending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9264" y="1574159"/>
            <a:ext cx="8668479" cy="299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Challenges in Learning WebGL</a:t>
            </a:r>
          </a:p>
          <a:p>
            <a:pPr algn="l">
              <a:lnSpc>
                <a:spcPts val="776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53489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003948" y="-1890601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5282649">
            <a:off x="16004285" y="265374"/>
            <a:ext cx="4017207" cy="1370872"/>
          </a:xfrm>
          <a:custGeom>
            <a:avLst/>
            <a:gdLst/>
            <a:ahLst/>
            <a:cxnLst/>
            <a:rect r="r" b="b" t="t" l="l"/>
            <a:pathLst>
              <a:path h="1370872" w="4017207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335391" y="683891"/>
            <a:ext cx="6468574" cy="5649105"/>
          </a:xfrm>
          <a:custGeom>
            <a:avLst/>
            <a:gdLst/>
            <a:ahLst/>
            <a:cxnLst/>
            <a:rect r="r" b="b" t="t" l="l"/>
            <a:pathLst>
              <a:path h="5649105" w="6468574">
                <a:moveTo>
                  <a:pt x="0" y="0"/>
                </a:moveTo>
                <a:lnTo>
                  <a:pt x="6468573" y="0"/>
                </a:lnTo>
                <a:lnTo>
                  <a:pt x="6468573" y="5649104"/>
                </a:lnTo>
                <a:lnTo>
                  <a:pt x="0" y="5649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60153" y="4218445"/>
            <a:ext cx="8887589" cy="418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725"/>
              </a:lnSpc>
              <a:buFont typeface="Arial"/>
              <a:buChar char="•"/>
            </a:pPr>
            <a:r>
              <a:rPr lang="en-US" b="true" sz="3500" spc="21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Existing tutorials are too complex</a:t>
            </a:r>
          </a:p>
          <a:p>
            <a:pPr algn="l">
              <a:lnSpc>
                <a:spcPts val="4725"/>
              </a:lnSpc>
            </a:pPr>
          </a:p>
          <a:p>
            <a:pPr algn="l" marL="755651" indent="-377825" lvl="1">
              <a:lnSpc>
                <a:spcPts val="4725"/>
              </a:lnSpc>
              <a:buFont typeface="Arial"/>
              <a:buChar char="•"/>
            </a:pPr>
            <a:r>
              <a:rPr lang="en-US" b="true" sz="3500" spc="21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Few beginner-oriented resources</a:t>
            </a:r>
          </a:p>
          <a:p>
            <a:pPr algn="l">
              <a:lnSpc>
                <a:spcPts val="4725"/>
              </a:lnSpc>
            </a:pPr>
          </a:p>
          <a:p>
            <a:pPr algn="l" marL="755651" indent="-377825" lvl="1">
              <a:lnSpc>
                <a:spcPts val="4725"/>
              </a:lnSpc>
              <a:buFont typeface="Arial"/>
              <a:buChar char="•"/>
            </a:pPr>
            <a:r>
              <a:rPr lang="en-US" b="true" sz="3500" spc="21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 learning barriers</a:t>
            </a:r>
          </a:p>
          <a:p>
            <a:pPr algn="l" marL="0" indent="0" lvl="0">
              <a:lnSpc>
                <a:spcPts val="472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158662" y="6728760"/>
            <a:ext cx="482203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Complexed code snippets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Source: https://webglfundamentals.org/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0303" y="1735086"/>
            <a:ext cx="16984189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Start with Rendering Pipeline</a:t>
            </a:r>
          </a:p>
          <a:p>
            <a:pPr algn="l">
              <a:lnSpc>
                <a:spcPts val="776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53489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003948" y="-1890601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5282649">
            <a:off x="16004285" y="265374"/>
            <a:ext cx="4017207" cy="1370872"/>
          </a:xfrm>
          <a:custGeom>
            <a:avLst/>
            <a:gdLst/>
            <a:ahLst/>
            <a:cxnLst/>
            <a:rect r="r" b="b" t="t" l="l"/>
            <a:pathLst>
              <a:path h="1370872" w="4017207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3473672" y="3045834"/>
            <a:ext cx="11340657" cy="2962747"/>
          </a:xfrm>
          <a:custGeom>
            <a:avLst/>
            <a:gdLst/>
            <a:ahLst/>
            <a:cxnLst/>
            <a:rect r="r" b="b" t="t" l="l"/>
            <a:pathLst>
              <a:path h="2962747" w="11340657">
                <a:moveTo>
                  <a:pt x="0" y="0"/>
                </a:moveTo>
                <a:lnTo>
                  <a:pt x="11340656" y="0"/>
                </a:lnTo>
                <a:lnTo>
                  <a:pt x="11340656" y="2962746"/>
                </a:lnTo>
                <a:lnTo>
                  <a:pt x="0" y="29627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40303" y="7020352"/>
            <a:ext cx="16607394" cy="250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374"/>
              </a:lnSpc>
              <a:buFont typeface="Arial"/>
              <a:buChar char="•"/>
            </a:pPr>
            <a:r>
              <a:rPr lang="en-US" b="true" sz="2499" spc="14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computer graphics, the rendering pipeline is the core of all 3D graphics applications. It handles the critical task of converting geometric data into visual images on the screen </a:t>
            </a:r>
            <a:r>
              <a:rPr lang="en-US" b="true" sz="2499" spc="14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and also serves as the first step for people to learn how to become skilled graphic programmers.</a:t>
            </a:r>
          </a:p>
          <a:p>
            <a:pPr algn="l">
              <a:lnSpc>
                <a:spcPts val="3374"/>
              </a:lnSpc>
            </a:pPr>
          </a:p>
          <a:p>
            <a:pPr algn="l" marL="539749" indent="-269875" lvl="1">
              <a:lnSpc>
                <a:spcPts val="3374"/>
              </a:lnSpc>
              <a:buFont typeface="Arial"/>
              <a:buChar char="•"/>
            </a:pPr>
            <a:r>
              <a:rPr lang="en-US" b="true" sz="2499" spc="14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stages: Vertex Shader, Rasterizer, Fragment Shader, Output Merging and Displaying.</a:t>
            </a:r>
          </a:p>
          <a:p>
            <a:pPr algn="l">
              <a:lnSpc>
                <a:spcPts val="337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051476" y="6249287"/>
            <a:ext cx="12185048" cy="539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1"/>
              </a:lnSpc>
            </a:pPr>
            <a:r>
              <a:rPr lang="en-US" b="true" sz="1578" i="true" spc="94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Figure: OpenGL Rendering Pipeline.   </a:t>
            </a:r>
            <a:r>
              <a:rPr lang="en-US" b="true" sz="1578" i="true" spc="94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Source: He, Chaoyang &amp; Li, Ming. (2019)</a:t>
            </a:r>
          </a:p>
          <a:p>
            <a:pPr algn="ctr">
              <a:lnSpc>
                <a:spcPts val="213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64697"/>
            <a:ext cx="10379398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Highlights</a:t>
            </a:r>
          </a:p>
          <a:p>
            <a:pPr algn="l">
              <a:lnSpc>
                <a:spcPts val="776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53489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003948" y="-1890601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5282649">
            <a:off x="16004285" y="265374"/>
            <a:ext cx="4017207" cy="1370872"/>
          </a:xfrm>
          <a:custGeom>
            <a:avLst/>
            <a:gdLst/>
            <a:ahLst/>
            <a:cxnLst/>
            <a:rect r="r" b="b" t="t" l="l"/>
            <a:pathLst>
              <a:path h="1370872" w="4017207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4031928"/>
            <a:ext cx="15258131" cy="598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725"/>
              </a:lnSpc>
              <a:buFont typeface="Arial"/>
              <a:buChar char="•"/>
            </a:pPr>
            <a:r>
              <a:rPr lang="en-US" b="true" sz="3500" spc="21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Advantages: Beginner-friendly, Progressive Disclosure and Scaffolding prompts</a:t>
            </a:r>
          </a:p>
          <a:p>
            <a:pPr algn="l">
              <a:lnSpc>
                <a:spcPts val="4725"/>
              </a:lnSpc>
            </a:pPr>
          </a:p>
          <a:p>
            <a:pPr algn="l" marL="755651" indent="-377825" lvl="1">
              <a:lnSpc>
                <a:spcPts val="4725"/>
              </a:lnSpc>
              <a:buFont typeface="Arial"/>
              <a:buChar char="•"/>
            </a:pPr>
            <a:r>
              <a:rPr lang="en-US" b="true" sz="3500" spc="21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Teaching Methods: Follow the rendering pipeline sequence, Step-by-step, Small-block Explanations, Small after-class exercises</a:t>
            </a:r>
          </a:p>
          <a:p>
            <a:pPr algn="l">
              <a:lnSpc>
                <a:spcPts val="4725"/>
              </a:lnSpc>
            </a:pPr>
          </a:p>
          <a:p>
            <a:pPr algn="l" marL="755651" indent="-377825" lvl="1">
              <a:lnSpc>
                <a:spcPts val="4725"/>
              </a:lnSpc>
              <a:buFont typeface="Arial"/>
              <a:buChar char="•"/>
            </a:pPr>
            <a:r>
              <a:rPr lang="en-US" b="true" sz="3500" spc="21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Hint-GPT Prompt System: Stage-based Prompts and Scoring Feedback</a:t>
            </a:r>
          </a:p>
          <a:p>
            <a:pPr algn="l" marL="0" indent="0" lvl="0">
              <a:lnSpc>
                <a:spcPts val="472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0303" y="1735086"/>
            <a:ext cx="16984189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US" sz="8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Website Structure Overview</a:t>
            </a:r>
          </a:p>
          <a:p>
            <a:pPr algn="ctr">
              <a:lnSpc>
                <a:spcPts val="776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53489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003948" y="-1890601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5282649">
            <a:off x="16004285" y="265374"/>
            <a:ext cx="4017207" cy="1370872"/>
          </a:xfrm>
          <a:custGeom>
            <a:avLst/>
            <a:gdLst/>
            <a:ahLst/>
            <a:cxnLst/>
            <a:rect r="r" b="b" t="t" l="l"/>
            <a:pathLst>
              <a:path h="1370872" w="4017207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8849937" y="3168456"/>
            <a:ext cx="8409363" cy="5775786"/>
          </a:xfrm>
          <a:custGeom>
            <a:avLst/>
            <a:gdLst/>
            <a:ahLst/>
            <a:cxnLst/>
            <a:rect r="r" b="b" t="t" l="l"/>
            <a:pathLst>
              <a:path h="5775786" w="8409363">
                <a:moveTo>
                  <a:pt x="0" y="0"/>
                </a:moveTo>
                <a:lnTo>
                  <a:pt x="8409363" y="0"/>
                </a:lnTo>
                <a:lnTo>
                  <a:pt x="8409363" y="5775786"/>
                </a:lnTo>
                <a:lnTo>
                  <a:pt x="0" y="577578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18042" y="3411574"/>
            <a:ext cx="7171813" cy="524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Homepage: navbar, search box, entry point for rendering pipeline tutorials and some knowledge overview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Tutorials: step-by-step programming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Exercises: knowledge testing (short-answer and programming tasks)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Lab: code practice zone with instant AI Hint and Score mechanism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6738" y="1875334"/>
            <a:ext cx="18514239" cy="299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US" sz="8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Website Function Demonstration</a:t>
            </a:r>
          </a:p>
          <a:p>
            <a:pPr algn="ctr">
              <a:lnSpc>
                <a:spcPts val="7760"/>
              </a:lnSpc>
            </a:pPr>
          </a:p>
          <a:p>
            <a:pPr algn="ctr">
              <a:lnSpc>
                <a:spcPts val="776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848571" y="8919661"/>
            <a:ext cx="3870946" cy="950141"/>
          </a:xfrm>
          <a:custGeom>
            <a:avLst/>
            <a:gdLst/>
            <a:ahLst/>
            <a:cxnLst/>
            <a:rect r="r" b="b" t="t" l="l"/>
            <a:pathLst>
              <a:path h="950141" w="3870946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72906" y="-2364815"/>
            <a:ext cx="4980952" cy="3731186"/>
          </a:xfrm>
          <a:custGeom>
            <a:avLst/>
            <a:gdLst/>
            <a:ahLst/>
            <a:cxnLst/>
            <a:rect r="r" b="b" t="t" l="l"/>
            <a:pathLst>
              <a:path h="3731186" w="4980952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431074" y="8919661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848571" y="-744412"/>
            <a:ext cx="2597326" cy="2796583"/>
          </a:xfrm>
          <a:custGeom>
            <a:avLst/>
            <a:gdLst/>
            <a:ahLst/>
            <a:cxnLst/>
            <a:rect r="r" b="b" t="t" l="l"/>
            <a:pathLst>
              <a:path h="2796583" w="2597326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3022375" y="3623761"/>
            <a:ext cx="11359541" cy="529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Navigation bar and search function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Step-by-step code Tutorial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switching function and file switching function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Run button mechanism and error console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 up and login module</a:t>
            </a:r>
          </a:p>
          <a:p>
            <a:pPr algn="l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GPT prompt System and Score Mechanism</a:t>
            </a:r>
          </a:p>
          <a:p>
            <a:pPr algn="l">
              <a:lnSpc>
                <a:spcPts val="525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581217" y="602297"/>
            <a:ext cx="18514239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US" sz="8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Implementation Summary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848571" y="8919661"/>
            <a:ext cx="3870946" cy="950141"/>
          </a:xfrm>
          <a:custGeom>
            <a:avLst/>
            <a:gdLst/>
            <a:ahLst/>
            <a:cxnLst/>
            <a:rect r="r" b="b" t="t" l="l"/>
            <a:pathLst>
              <a:path h="950141" w="3870946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72906" y="-2364815"/>
            <a:ext cx="4980952" cy="3731186"/>
          </a:xfrm>
          <a:custGeom>
            <a:avLst/>
            <a:gdLst/>
            <a:ahLst/>
            <a:cxnLst/>
            <a:rect r="r" b="b" t="t" l="l"/>
            <a:pathLst>
              <a:path h="3731186" w="4980952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431074" y="8919661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848571" y="-744412"/>
            <a:ext cx="2597326" cy="2796583"/>
          </a:xfrm>
          <a:custGeom>
            <a:avLst/>
            <a:gdLst/>
            <a:ahLst/>
            <a:cxnLst/>
            <a:rect r="r" b="b" t="t" l="l"/>
            <a:pathLst>
              <a:path h="2796583" w="2597326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965708" y="1956921"/>
            <a:ext cx="16356584" cy="762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Front-end: HTML, CSS, JavaScript</a:t>
            </a:r>
          </a:p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Backend: Use Node server to handle OpenAI GPT requests</a:t>
            </a:r>
          </a:p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Code editor: Import CodeMirror</a:t>
            </a:r>
          </a:p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Run mechanism: Via Blob + iframe to execute user-written code</a:t>
            </a:r>
          </a:p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Error console: Via rewrites some code in an iframe, like: "console.log", "console.error" </a:t>
            </a:r>
          </a:p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Staged Hint-GPT System: Use Node.js in backend to integrate OpenAI API; Via "static text + gradual AI hint system" to help beginners' learning</a:t>
            </a:r>
          </a:p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Scoring System: Deduct based on the Hint button clicks to encourage users' self-practice, improve gamification</a:t>
            </a:r>
          </a:p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system: Create sign up &amp; login pages via LocalStorage</a:t>
            </a:r>
          </a:p>
          <a:p>
            <a:pPr algn="l">
              <a:lnSpc>
                <a:spcPts val="50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1906" y="1079022"/>
            <a:ext cx="16984189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US" sz="8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Experimental Validation</a:t>
            </a:r>
          </a:p>
          <a:p>
            <a:pPr algn="ctr">
              <a:lnSpc>
                <a:spcPts val="776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53489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003948" y="-1890601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5282649">
            <a:off x="16004285" y="265374"/>
            <a:ext cx="4017207" cy="1370872"/>
          </a:xfrm>
          <a:custGeom>
            <a:avLst/>
            <a:gdLst/>
            <a:ahLst/>
            <a:cxnLst/>
            <a:rect r="r" b="b" t="t" l="l"/>
            <a:pathLst>
              <a:path h="1370872" w="4017207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431679" y="2372273"/>
            <a:ext cx="7204415" cy="5277234"/>
          </a:xfrm>
          <a:custGeom>
            <a:avLst/>
            <a:gdLst/>
            <a:ahLst/>
            <a:cxnLst/>
            <a:rect r="r" b="b" t="t" l="l"/>
            <a:pathLst>
              <a:path h="5277234" w="7204415">
                <a:moveTo>
                  <a:pt x="0" y="0"/>
                </a:moveTo>
                <a:lnTo>
                  <a:pt x="7204415" y="0"/>
                </a:lnTo>
                <a:lnTo>
                  <a:pt x="7204415" y="5277234"/>
                </a:lnTo>
                <a:lnTo>
                  <a:pt x="0" y="527723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286548"/>
            <a:ext cx="9725265" cy="790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4"/>
              </a:lnSpc>
            </a:pPr>
            <a:r>
              <a:rPr lang="en-US" sz="245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Fully-factorial within-participants design : small sample</a:t>
            </a:r>
          </a:p>
          <a:p>
            <a:pPr algn="l">
              <a:lnSpc>
                <a:spcPts val="3924"/>
              </a:lnSpc>
            </a:pPr>
            <a:r>
              <a:rPr lang="en-US" sz="245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&amp; Latin square design: reduce order effects</a:t>
            </a:r>
          </a:p>
          <a:p>
            <a:pPr algn="l">
              <a:lnSpc>
                <a:spcPts val="3924"/>
              </a:lnSpc>
            </a:pPr>
          </a:p>
          <a:p>
            <a:pPr algn="l">
              <a:lnSpc>
                <a:spcPts val="3924"/>
              </a:lnSpc>
            </a:pPr>
            <a:r>
              <a:rPr lang="en-US" sz="245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18 participants, 3 learning methods:</a:t>
            </a:r>
          </a:p>
          <a:p>
            <a:pPr algn="l">
              <a:lnSpc>
                <a:spcPts val="3924"/>
              </a:lnSpc>
            </a:pPr>
            <a:r>
              <a:rPr lang="en-US" sz="245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 A: Paper-based learning material</a:t>
            </a:r>
          </a:p>
          <a:p>
            <a:pPr algn="l">
              <a:lnSpc>
                <a:spcPts val="3924"/>
              </a:lnSpc>
            </a:pPr>
            <a:r>
              <a:rPr lang="en-US" sz="245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 B: Using the website without the Hint system</a:t>
            </a:r>
          </a:p>
          <a:p>
            <a:pPr algn="l">
              <a:lnSpc>
                <a:spcPts val="3924"/>
              </a:lnSpc>
            </a:pPr>
            <a:r>
              <a:rPr lang="en-US" sz="245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 C: Using the website with the Hint-GPT system</a:t>
            </a:r>
          </a:p>
          <a:p>
            <a:pPr algn="l">
              <a:lnSpc>
                <a:spcPts val="3924"/>
              </a:lnSpc>
            </a:pPr>
          </a:p>
          <a:p>
            <a:pPr algn="l">
              <a:lnSpc>
                <a:spcPts val="3924"/>
              </a:lnSpc>
            </a:pPr>
            <a:r>
              <a:rPr lang="en-US" sz="245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  questionnaire (SUS+Self-rated background questions) after each method to test usability and learning experience </a:t>
            </a:r>
          </a:p>
          <a:p>
            <a:pPr algn="l">
              <a:lnSpc>
                <a:spcPts val="4084"/>
              </a:lnSpc>
            </a:pPr>
          </a:p>
          <a:p>
            <a:pPr algn="l">
              <a:lnSpc>
                <a:spcPts val="3924"/>
              </a:lnSpc>
            </a:pPr>
            <a:r>
              <a:rPr lang="en-US" sz="245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results validated the effectiveness of the Hint-GPT assisted learning website</a:t>
            </a:r>
          </a:p>
          <a:p>
            <a:pPr algn="l">
              <a:lnSpc>
                <a:spcPts val="3924"/>
              </a:lnSpc>
            </a:pPr>
          </a:p>
          <a:p>
            <a:pPr algn="l">
              <a:lnSpc>
                <a:spcPts val="3924"/>
              </a:lnSpc>
            </a:pPr>
          </a:p>
          <a:p>
            <a:pPr algn="l">
              <a:lnSpc>
                <a:spcPts val="392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810612" y="7859872"/>
            <a:ext cx="494541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Questionnaire survey Flowchart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1906" y="962182"/>
            <a:ext cx="16984189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US" b="true" sz="8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SUS Score Comparison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53489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003948" y="-1890601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5282649">
            <a:off x="16004285" y="265374"/>
            <a:ext cx="4017207" cy="1370872"/>
          </a:xfrm>
          <a:custGeom>
            <a:avLst/>
            <a:gdLst/>
            <a:ahLst/>
            <a:cxnLst/>
            <a:rect r="r" b="b" t="t" l="l"/>
            <a:pathLst>
              <a:path h="1370872" w="4017207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662713" y="2235129"/>
            <a:ext cx="8940734" cy="6586182"/>
          </a:xfrm>
          <a:custGeom>
            <a:avLst/>
            <a:gdLst/>
            <a:ahLst/>
            <a:cxnLst/>
            <a:rect r="r" b="b" t="t" l="l"/>
            <a:pathLst>
              <a:path h="6586182" w="8940734">
                <a:moveTo>
                  <a:pt x="0" y="0"/>
                </a:moveTo>
                <a:lnTo>
                  <a:pt x="8940734" y="0"/>
                </a:lnTo>
                <a:lnTo>
                  <a:pt x="8940734" y="6586182"/>
                </a:lnTo>
                <a:lnTo>
                  <a:pt x="0" y="65861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10534" r="0" b="-1053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06037" y="2848287"/>
            <a:ext cx="5765821" cy="418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 C (with Hint-GPT) scored 90.14.</a:t>
            </a:r>
          </a:p>
          <a:p>
            <a:pPr algn="l">
              <a:lnSpc>
                <a:spcPts val="5600"/>
              </a:lnSpc>
            </a:pPr>
          </a:p>
          <a:p>
            <a:pPr algn="l">
              <a:lnSpc>
                <a:spcPts val="5600"/>
              </a:lnSpc>
            </a:pPr>
            <a:r>
              <a:rPr lang="en-US" sz="3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Significantly higher than Method A and B.</a:t>
            </a:r>
          </a:p>
          <a:p>
            <a:pPr algn="l">
              <a:lnSpc>
                <a:spcPts val="56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1906" y="921007"/>
            <a:ext cx="16984189" cy="2748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US" sz="8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Group Analysis</a:t>
            </a:r>
          </a:p>
          <a:p>
            <a:pPr algn="ctr">
              <a:lnSpc>
                <a:spcPts val="582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Beginners vs Experienced Users</a:t>
            </a:r>
          </a:p>
          <a:p>
            <a:pPr algn="ctr">
              <a:lnSpc>
                <a:spcPts val="776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53489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003948" y="-1890601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5282649">
            <a:off x="16004285" y="265374"/>
            <a:ext cx="4017207" cy="1370872"/>
          </a:xfrm>
          <a:custGeom>
            <a:avLst/>
            <a:gdLst/>
            <a:ahLst/>
            <a:cxnLst/>
            <a:rect r="r" b="b" t="t" l="l"/>
            <a:pathLst>
              <a:path h="1370872" w="4017207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6917224" y="2802976"/>
            <a:ext cx="10342076" cy="6455324"/>
          </a:xfrm>
          <a:custGeom>
            <a:avLst/>
            <a:gdLst/>
            <a:ahLst/>
            <a:cxnLst/>
            <a:rect r="r" b="b" t="t" l="l"/>
            <a:pathLst>
              <a:path h="6455324" w="10342076">
                <a:moveTo>
                  <a:pt x="0" y="0"/>
                </a:moveTo>
                <a:lnTo>
                  <a:pt x="10342076" y="0"/>
                </a:lnTo>
                <a:lnTo>
                  <a:pt x="10342076" y="6455324"/>
                </a:lnTo>
                <a:lnTo>
                  <a:pt x="0" y="64553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3350486"/>
            <a:ext cx="5765821" cy="559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Beginners benefited significantly from AI Hint System.</a:t>
            </a:r>
          </a:p>
          <a:p>
            <a:pPr algn="l">
              <a:lnSpc>
                <a:spcPts val="5600"/>
              </a:lnSpc>
            </a:pPr>
          </a:p>
          <a:p>
            <a:pPr algn="l">
              <a:lnSpc>
                <a:spcPts val="5600"/>
              </a:lnSpc>
            </a:pPr>
            <a:r>
              <a:rPr lang="en-US" sz="3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Both erperienced and no experienced groups showed improvements.</a:t>
            </a:r>
          </a:p>
          <a:p>
            <a:pPr algn="l">
              <a:lnSpc>
                <a:spcPts val="56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13120" y="1200150"/>
            <a:ext cx="18514239" cy="99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69"/>
              </a:lnSpc>
            </a:pPr>
            <a:r>
              <a:rPr lang="en-US" sz="7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 and Future Work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848571" y="8919661"/>
            <a:ext cx="3870946" cy="950141"/>
          </a:xfrm>
          <a:custGeom>
            <a:avLst/>
            <a:gdLst/>
            <a:ahLst/>
            <a:cxnLst/>
            <a:rect r="r" b="b" t="t" l="l"/>
            <a:pathLst>
              <a:path h="950141" w="3870946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72906" y="-2364815"/>
            <a:ext cx="4980952" cy="3731186"/>
          </a:xfrm>
          <a:custGeom>
            <a:avLst/>
            <a:gdLst/>
            <a:ahLst/>
            <a:cxnLst/>
            <a:rect r="r" b="b" t="t" l="l"/>
            <a:pathLst>
              <a:path h="3731186" w="4980952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431074" y="8919661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848571" y="-744412"/>
            <a:ext cx="2597326" cy="2796583"/>
          </a:xfrm>
          <a:custGeom>
            <a:avLst/>
            <a:gdLst/>
            <a:ahLst/>
            <a:cxnLst/>
            <a:rect r="r" b="b" t="t" l="l"/>
            <a:pathLst>
              <a:path h="2796583" w="2597326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2335395" y="2303667"/>
            <a:ext cx="14236925" cy="620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2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Summary:</a:t>
            </a:r>
          </a:p>
          <a:p>
            <a:pPr algn="l">
              <a:lnSpc>
                <a:spcPts val="3749"/>
              </a:lnSpc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function of progressive disclosure and AI-assisted hint mechanisms effectively supports beginners and also benefits participants with a computer science background.</a:t>
            </a:r>
          </a:p>
          <a:p>
            <a:pPr algn="l">
              <a:lnSpc>
                <a:spcPts val="3749"/>
              </a:lnSpc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project design improves both usability and accessibility for learners.</a:t>
            </a:r>
          </a:p>
          <a:p>
            <a:pPr algn="l">
              <a:lnSpc>
                <a:spcPts val="3749"/>
              </a:lnSpc>
            </a:pPr>
          </a:p>
          <a:p>
            <a:pPr algn="l">
              <a:lnSpc>
                <a:spcPts val="60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Improvements: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Integrate a real-time GPT-based Q&amp;A system to provide instant support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Develop more advanced tutorials for users to learn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Expand the support for different file formats and coding tasks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Enhance the visual design, such as optimizing the colour scheme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Expanding Experiment Scale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Long-Term Learning Outcome Evaluation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29398" y="861489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30709" y="9258300"/>
            <a:ext cx="3059829" cy="751049"/>
          </a:xfrm>
          <a:custGeom>
            <a:avLst/>
            <a:gdLst/>
            <a:ahLst/>
            <a:cxnLst/>
            <a:rect r="r" b="b" t="t" l="l"/>
            <a:pathLst>
              <a:path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15205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686214" y="-2578193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138935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409323" y="-2700100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4747568">
            <a:off x="-2972342" y="3665317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831481" y="-1626507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7259300" y="2262342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570549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-5282649">
            <a:off x="16440369" y="6970869"/>
            <a:ext cx="3382987" cy="1154444"/>
          </a:xfrm>
          <a:custGeom>
            <a:avLst/>
            <a:gdLst/>
            <a:ahLst/>
            <a:cxnLst/>
            <a:rect r="r" b="b" t="t" l="l"/>
            <a:pathLst>
              <a:path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6978638" y="-642644"/>
            <a:ext cx="3104522" cy="3342688"/>
          </a:xfrm>
          <a:custGeom>
            <a:avLst/>
            <a:gdLst/>
            <a:ahLst/>
            <a:cxnLst/>
            <a:rect r="r" b="b" t="t" l="l"/>
            <a:pathLst>
              <a:path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3688802" y="3019867"/>
            <a:ext cx="10910396" cy="336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99"/>
              </a:lnSpc>
            </a:pPr>
            <a:r>
              <a:rPr lang="en-US" b="true" sz="1459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 very much!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60641" y="6801810"/>
            <a:ext cx="8459795" cy="58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81"/>
              </a:lnSpc>
            </a:pPr>
            <a:r>
              <a:rPr lang="en-US" b="true" sz="4381" spc="-8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Xiao Fu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DAGl2btZnCc</dc:identifier>
  <dcterms:modified xsi:type="dcterms:W3CDTF">2011-08-01T06:04:30Z</dcterms:modified>
  <cp:revision>1</cp:revision>
  <dc:title>xiao-presentation</dc:title>
</cp:coreProperties>
</file>